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265833ddf843ee" /><Relationship Type="http://schemas.openxmlformats.org/officeDocument/2006/relationships/extended-properties" Target="/docProps/app.xml" Id="R883255aa1c5d419b" /><Relationship Type="http://schemas.openxmlformats.org/officeDocument/2006/relationships/officeDocument" Target="/ppt/presentation.xml" Id="Ree97c0ff480b47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0fce414488475e"/>
  </p:sldMasterIdLst>
  <p:notesMasterIdLst>
    <p:notesMasterId xmlns:r="http://schemas.openxmlformats.org/officeDocument/2006/relationships" r:id="Re7592160f5554094"/>
  </p:notesMasterIdLst>
  <p:sldIdLst>
    <p:sldId xmlns:r="http://schemas.openxmlformats.org/officeDocument/2006/relationships" id="256" r:id="Rf47450e0bc4142ee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6b791fbe0e4130" /><Relationship Type="http://schemas.openxmlformats.org/officeDocument/2006/relationships/slideMaster" Target="/ppt/slideMasters/slideMaster1.xml" Id="R3f0fce414488475e" /><Relationship Type="http://schemas.openxmlformats.org/officeDocument/2006/relationships/notesMaster" Target="/ppt/notesMasters/notesMaster1.xml" Id="Re7592160f5554094" /><Relationship Type="http://schemas.openxmlformats.org/officeDocument/2006/relationships/presProps" Target="/ppt/presProps.xml" Id="R736b3c7b73fa4d47" /><Relationship Type="http://schemas.openxmlformats.org/officeDocument/2006/relationships/tableStyles" Target="/ppt/tableStyles.xml" Id="R16c5a7129a164bcd" /><Relationship Type="http://schemas.openxmlformats.org/officeDocument/2006/relationships/slide" Target="/ppt/slides/slide1.xml" Id="Rf47450e0bc4142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ca88b00c2e40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853a18c1bc4681" /><Relationship Type="http://schemas.openxmlformats.org/officeDocument/2006/relationships/notesMaster" Target="/ppt/notesMasters/notesMaster1.xml" Id="Rfa111ea27ae147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대상: C:/Project/Pirate-Alliance의 2026-10-07 현재 작업본(미커밋 변경 포함).</a:t>
            </a:r>
          </a:p>
          <a:p xmlns:a="http://schemas.openxmlformats.org/drawingml/2006/main">
            <a:r>
              <a:t>이 다이어그램은 Unity C# 객체/에셋과 PlayerPrefs 저장 구조다. 관계선은 배열 소유 또는 에셋 참조를 뜻하며 SQL PK/FK나 관계형 데이터베이스 제약을 뜻하지 않는다. 1:N은 정의상 배열 관계를 표시한다. 현재 카탈로그의 각 미션은 실제로 스테이지 하나씩을 참조한다. StageDefinition과 Room은 슬라이드 본문의 LiminalStageDefinition, LiminalRoom 약칭이다.</a:t>
            </a:r>
          </a:p>
          <a:p xmlns:a="http://schemas.openxmlformats.org/drawingml/2006/main">
            <a:r>
              <a:t>Assets/Liminal/Scripts/GateMissionCatalog.cs: GateMissionCatalog.missions[]는 직렬화된 GateMissionDefinition 객체 배열이다. GateMissionDefinition의 모든 필드는 id, code, title, destinationId, destinationName, briefing, difficulty, difficultyName, healthMultiplier, enemyGimmicks, gimmickName, gimmickDescription, objective, stages[]이다. damageMultiplier는 항상 1이다. 목적지 표시 여부는 HunterProgress.IsDestinationDiscovered(destinationId)를 통해 결정한다. EnemyGimmick은 None=0, Armor=1, DeathBurst=2 플래그다.</a:t>
            </a:r>
          </a:p>
          <a:p xmlns:a="http://schemas.openxmlformats.org/drawingml/2006/main">
            <a:r>
              <a:t>Assets/Liminal/Resources/GateMissions.asset: 현재 liminal_campaign, forest_survey, ruins_clearance, cave_expedition, game_exhibition의 미션 5개를 보유한다. 스테이지 배열 길이는 모두 1이다.</a:t>
            </a:r>
          </a:p>
          <a:p xmlns:a="http://schemas.openxmlformats.org/drawingml/2006/main">
            <a:r>
              <a:t>Assets/Liminal/Scripts/LiminalStageDefinition.cs: 전체 필드는 stageId, title, subtitle, startRoom, endRoom, roomPool[], middleRoomCount, isBossStage, ambientColor이다. ChooseRoute(runSeed, stageIndex)는 startRoom/Arrival/Boss를 중간 후보에서 제외하고, 시드 기반 shuffle bag으로 중간방을 고른 뒤 endRoom을 추가한다. 첫 중간방은 전투방을 우선한다. Entry/Exit 소켓 유효성을 검사한다.</a:t>
            </a:r>
          </a:p>
          <a:p xmlns:a="http://schemas.openxmlformats.org/drawingml/2006/main">
            <a:r>
              <a:t>현재 미션이 참조하는 Assets/Liminal/Stages/Stage_Liminal.asset, Assets/StageConcepts/Stages/Forest.asset, Assets/StageConcepts/Stages/Ruins.asset, Assets/StageConcepts/Stages/Cave.asset, Assets/GameTheme/Data/Stage_Game.asset은 middleRoomCount=3이다. 따라서 각각 중간방 3개 + 종료방 1개를 플레이한다. Assets/Liminal/Scenes/LiminalRun.unity는 startInLobby=1이며 기본 stages[]에 Stage_Liminal을 참조한다. README의 과거 4스테이지/17방 문구 대신 현재 에셋과 코드를 사용했다.</a:t>
            </a:r>
          </a:p>
          <a:p xmlns:a="http://schemas.openxmlformats.org/drawingml/2006/main">
            <a:r>
              <a:t>Assets/Liminal/Scripts/LiminalRoom.cs: 전체 필드는 roomId, displayName, kind, entry, exit, playerSpawn, enemySpawns[], localBounds, entranceGate, exitGate, designNotes이다. kind는 Arrival, Exploration, Combat, Threshold, Boss. 프리팹 컴포넌트로 제작하고 런에서 복제한다.</a:t>
            </a:r>
          </a:p>
          <a:p xmlns:a="http://schemas.openxmlformats.org/drawingml/2006/main">
            <a:r>
              <a:t>Assets/Liminal/Scripts/LiminalRunDirector.cs: missionCatalog는 Resources.Load&lt;GateMissionCatalog&gt;("GateMissions")로 기본 로드한다. 로비에서 EnterMission(id)를 호출하면 모든 스테이지 경로를 검증한 뒤 ActiveMission을 지정하고 stages[]를 복사한다. BuildRoute는 선택한 방 프리팹을 Instantiate하고 entry/exit 소켓을 연결한다. rooms는 List&lt;LiminalRoom&gt;, living은 HashSet&lt;TrainingEnemy&gt;, visited/cleared는 bool[]. StageIndex, ActiveRoomIndex, Phase, seed, PendingReward, AugmentHistory는 현재 실행 상태다. Phase는 Exploring, AugmentChoice, NextStageChoice, Victory, Defeat, Paused, InvalidConfiguration, Lobby. 로비에 돌아갈 때 PendingReward를 HunterProgress.Earn으로 지급하고 경로와 ActiveMission을 정리한다. 미션 진입 전에 HunterProgress.Apply로 영구 강화 수치를 적용한다. 단계 로드 성공 후 destinationId와 stageId 탐험 기록을 저장한다.</a:t>
            </a:r>
          </a:p>
          <a:p xmlns:a="http://schemas.openxmlformats.org/drawingml/2006/main">
            <a:r>
              <a:t>Assets/Liminal/Scripts/Lobby/HunterProgress.cs: PlayerPrefs의 Hunter.MagicStones는 int 통화 값, Hunter.Upgrade.&lt;Vitality|Swordsmanship|Evasion|Counter&gt;는 int 레벨, Hunter.Destination.&lt;destinationId&gt;와 Hunter.VisitedStage.&lt;stageId&gt;는 int 0/1 발견 플래그다. 강화 정보 Info[]는 name, effect, maxLevel, costs[]를 가지며 코드 내부 상수 정의다. 최대 강화 레벨은 Vitality=5, Swordsmanship=5, Evasion=4, Counter=3이다.</a:t>
            </a:r>
          </a:p>
          <a:p xmlns:a="http://schemas.openxmlformats.org/drawingml/2006/main">
            <a:r>
              <a:t>Assets/Liminal/Scripts/LiminalPlayerHealth.cs: maximumHealth, baseMaximum, dodgeGrace 설정과 Health, IsAlive, JustDodges 상태 및 Died/Changed/JustDodged/Hurt 이벤트. Assets/Gameplay/Scripts/TrainingEnemy.cs: maxHealth, Health, respawn 설정과 Defeated/Damaged 이벤트. RunDirector.Register는 살아 있는 적에 GateMissionEnemyModifier를 적용하고 Defeated 이벤트로 클리어를 갱신한다.</a:t>
            </a:r>
          </a:p>
          <a:p xmlns:a="http://schemas.openxmlformats.org/drawingml/2006/main">
            <a:r>
              <a:t>Assets/Liminal/Scripts/GateMissionEnemyModifier.cs: 미션 healthMultiplier와 Armor 플래그(받는 피해 0.75)를 적에 적용하고 DeathBurst는 사망 후 폭발을 구성한다. Assets/Liminal/Scripts/Support/SupportCharacterSkill.cs: characterName, skillName, cooldown, meteorFallTime, meteorRadius, meteorDamage, oneUpDuration, chomperDamage, castInvulnerability, meteorSearchRange 및 portrait/meteorModel/oneUpModel/chomperModel을 설정하고 쿨타임/버프 상태를 실행 중 관리한다.</a:t>
            </a:r>
          </a:p>
          <a:p xmlns:a="http://schemas.openxmlformats.org/drawingml/2006/main">
            <a:r>
              <a:t>에셋 기반 몬스터 생성은 Assets/Liminal/Scripts/Monsters/LiminalMonsterLibrary.cs(복사기, 사물함, 신호등 보스와 로비 장식 프리팹), Assets/GameTheme/Scripts/GameVoxelMonsterLibrary.cs(pixelMaw, bitSentry, stackGuardian, projectileMesh, paletteMaterial), 테마별 생성 팩토리/보스 컴포넌트가 담당한다. 한 장에서는 전투 컴포넌트로 묶었다.</a:t>
            </a:r>
          </a:p>
          <a:p xmlns:a="http://schemas.openxmlformats.org/drawingml/2006/main">
            <a:r>
              <a:t>Assets/Liminal/Scripts/Lobby/LiminalLobby.cs, Assets/Liminal/Scripts/Lobby/BlueFireGate.cs는 로비/게이트 미션 선택을 맡고 Assets/Liminal/Scripts/LiminalHud.cs는 RunDirector와 플레이어 상태를 표시한다. 저장되는 데이터는 HunterProgress의 로컬 PlayerPrefs 항목이며 런 중 방 방문/적 생존/증강 이력을 저장하는 별도 세이브 스키마는 위 핵심 파일들에 없다.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7eb75dc988491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c751e91788420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661cc4c3a34a0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7e557d7b3d467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832c4753544df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ee0d1d4c1440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42D055-C718-471D-9DF9-ABBCCEDF1F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97520A3-AFAE-4BDA-987D-DA575280E39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DAA3101-1A37-4D0B-A5CA-472FCEE41C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E26376-39D4-4FAA-BAB6-B37A7D4207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E78977C-C8B7-4E23-A790-310AABF7D8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C14B312-55E6-4C9F-A94D-41031FAD9B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D15A81-F8E7-44C3-BDB6-EF0BB46F7D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A0965A6-C7CD-484B-8329-6A68CB21AEB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CF39B3-BE44-4F00-8E83-2FDC3E7474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CD8137-B6FB-4D4B-BB1D-4510622DDE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da388c50284d36" /><Relationship Type="http://schemas.openxmlformats.org/officeDocument/2006/relationships/slideLayout" Target="/ppt/slideLayouts/slideLayout1.xml" Id="R9790aef26b50428e" /><Relationship Type="http://schemas.openxmlformats.org/officeDocument/2006/relationships/slideLayout" Target="/ppt/slideLayouts/slideLayout2.xml" Id="R5836c93f263f462b" /><Relationship Type="http://schemas.openxmlformats.org/officeDocument/2006/relationships/slideLayout" Target="/ppt/slideLayouts/slideLayout3.xml" Id="R898d62404c024377" /><Relationship Type="http://schemas.openxmlformats.org/officeDocument/2006/relationships/slideLayout" Target="/ppt/slideLayouts/slideLayout4.xml" Id="R0a23cd59e1bf44a6" /><Relationship Type="http://schemas.openxmlformats.org/officeDocument/2006/relationships/slideLayout" Target="/ppt/slideLayouts/slideLayout5.xml" Id="Re3d6221ac1d6417a" /><Relationship Type="http://schemas.openxmlformats.org/officeDocument/2006/relationships/slideLayout" Target="/ppt/slideLayouts/slideLayout6.xml" Id="R92a085e5434e4e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90aef26b50428e"/>
    <p:sldLayoutId xmlns:r="http://schemas.openxmlformats.org/officeDocument/2006/relationships" id="2147483650" r:id="R5836c93f263f462b"/>
    <p:sldLayoutId xmlns:r="http://schemas.openxmlformats.org/officeDocument/2006/relationships" id="2147483651" r:id="R898d62404c024377"/>
    <p:sldLayoutId xmlns:r="http://schemas.openxmlformats.org/officeDocument/2006/relationships" id="2147483652" r:id="R0a23cd59e1bf44a6"/>
    <p:sldLayoutId xmlns:r="http://schemas.openxmlformats.org/officeDocument/2006/relationships" id="2147483653" r:id="Re3d6221ac1d6417a"/>
    <p:sldLayoutId xmlns:r="http://schemas.openxmlformats.org/officeDocument/2006/relationships" id="2147483654" r:id="R92a085e5434e4e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7f62274a9c4f20" /><Relationship Type="http://schemas.openxmlformats.org/officeDocument/2006/relationships/notesSlide" Target="/ppt/notesSlides/notesSlide1.xml" Id="R3af7116b95f14e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2E3E386-1831-4E78-A810-A600CF02C273}"/>
              </a:ext>
            </a:extLst>
          </p:cNvPr>
          <p:cNvCxnSpPr>
            <a:stCxn xmlns:a="http://schemas.openxmlformats.org/drawingml/2006/main" id="61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10572750" y="66008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98096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680B20F-439C-4874-8120-D8C615851614}"/>
              </a:ext>
            </a:extLst>
          </p:cNvPr>
          <p:cNvCxnSpPr>
            <a:stCxn xmlns:a="http://schemas.openxmlformats.org/drawingml/2006/main" id="52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3810000" y="66008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16A2D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43C55EF-A86B-490B-9B24-A3DA8221BBD3}"/>
              </a:ext>
            </a:extLst>
          </p:cNvPr>
          <p:cNvCxnSpPr>
            <a:stCxn xmlns:a="http://schemas.openxmlformats.org/drawingml/2006/main" id="33" idx="2"/>
            <a:endCxn xmlns:a="http://schemas.openxmlformats.org/drawingml/2006/main" id="70" idx="0"/>
          </p:cNvCxnSpPr>
          <p:nvPr/>
        </p:nvCxnSpPr>
        <p:spPr>
          <a:xfrm xmlns:a="http://schemas.openxmlformats.org/drawingml/2006/main" flipH="1">
            <a:off x="13106400" y="4171950"/>
            <a:ext cx="152400" cy="12382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698096"/>
            </a:solidFill>
            <a:prstDash val="solid"/>
            <a:tailEnd type="triangle" w="sm" len="sm"/>
          </a:ln>
        </p:spPr>
      </p:cxnSp>
      <p:cxnSp>
        <p:nvCxn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E84669D-D6D2-4CE4-A345-8AC68149CA7F}"/>
              </a:ext>
            </a:extLst>
          </p:cNvPr>
          <p:cNvCxnSpPr>
            <a:stCxn xmlns:a="http://schemas.openxmlformats.org/drawingml/2006/main" id="23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 flipH="1">
            <a:off x="7620000" y="4171950"/>
            <a:ext cx="1743075" cy="1238250"/>
          </a:xfrm>
          <a:prstGeom xmlns:a="http://schemas.openxmlformats.org/drawingml/2006/main" prst="bentConnector4">
            <a:avLst>
              <a:gd name="adj1" fmla="val 0"/>
              <a:gd name="adj2" fmla="val 81538"/>
            </a:avLst>
          </a:prstGeom>
          <a:ln xmlns:a="http://schemas.openxmlformats.org/drawingml/2006/main" w="19050">
            <a:solidFill>
              <a:srgbClr val="698096"/>
            </a:solidFill>
            <a:prstDash val="solid"/>
            <a:tailEnd type="triangle" w="sm" len="sm"/>
          </a:ln>
        </p:spPr>
      </p:cxn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87C50D9-B153-490A-BACF-0EF694F8A269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11029950" y="29908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98096"/>
            </a:solidFill>
            <a:prstDash val="solid"/>
            <a:tailEnd type="triangle" w="sm" len="sm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B09DC6-FECA-4EA1-92BA-23503D6D6B3D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7067550" y="29908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98096"/>
            </a:solidFill>
            <a:prstDash val="solid"/>
            <a:tailEnd type="triangle" w="sm" len="sm"/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293FCB-34C4-4AE0-96FA-9064D45A79D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24200" y="29908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98096"/>
            </a:solidFill>
            <a:prstDash val="solid"/>
            <a:tailEnd type="triangle" w="sm" len="sm"/>
          </a:ln>
        </p:spPr>
      </p:cxnSp>
      <p:sp>
        <p:nvSpPr>
          <p:cNvPr id="9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F1EA71-0808-4CEA-99E6-D5DC5A5B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75" b="1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75" b="1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1">
                <a:solidFill>
                  <a:srgbClr val="17283E"/>
                </a:solidFill>
                <a:latin typeface="Malgun Gothic"/>
                <a:ea typeface="Malgun Gothic"/>
                <a:cs typeface="Malgun Gothic"/>
              </a:rPr>
              <a:t>현재 게임 스키마</a:t>
            </a:r>
          </a:p>
        </p:txBody>
      </p:sp>
      <p:sp>
        <p:nvSpPr>
          <p:cNvPr id="2" name="project-label">
            <a:extLst xmlns:a="http://schemas.openxmlformats.org/drawingml/2006/main">
              <a:ext uri="{FF2B5EF4-FFF2-40B4-BE49-F238E27FC236}">
                <a16:creationId xmlns:a16="http://schemas.microsoft.com/office/drawing/2014/main" id="{45979534-EFC0-4053-9042-9B9A9DF6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90525"/>
            <a:ext cx="335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875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rPr>
              <a:t>Pirate-Alliance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A0CBB5C-A246-4779-AF90-7A62CB14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76300"/>
            <a:ext cx="1143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rPr>
              <a:t>Unity 에셋 정의, 플레이 상태, 로컬 저장의 관계</a:t>
            </a:r>
          </a:p>
        </p:txBody>
      </p:sp>
      <p:sp>
        <p:nvSpPr>
          <p:cNvPr id="4" name="current-configuration">
            <a:extLst xmlns:a="http://schemas.openxmlformats.org/drawingml/2006/main">
              <a:ext uri="{FF2B5EF4-FFF2-40B4-BE49-F238E27FC236}">
                <a16:creationId xmlns:a16="http://schemas.microsoft.com/office/drawing/2014/main" id="{CA1774E3-7BE5-4F16-B6F3-F5C1F825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66825"/>
            <a:ext cx="14239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35B9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35B9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35B95"/>
                </a:solidFill>
                <a:latin typeface="Malgun Gothic"/>
                <a:ea typeface="Malgun Gothic"/>
                <a:cs typeface="Malgun Gothic"/>
              </a:rPr>
              <a:t>현재 카탈로그: 미션 5개 / 미션별 1스테이지 / 일반방 3개 + 고정 종료방 1개</a:t>
            </a:r>
          </a:p>
        </p:txBody>
      </p:sp>
      <p:sp>
        <p:nvSpPr>
          <p:cNvPr id="5" name="mission-catalog">
            <a:extLst xmlns:a="http://schemas.openxmlformats.org/drawingml/2006/main">
              <a:ext uri="{FF2B5EF4-FFF2-40B4-BE49-F238E27FC236}">
                <a16:creationId xmlns:a16="http://schemas.microsoft.com/office/drawing/2014/main" id="{E7BB49F2-9350-4CE0-8599-929DD728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6670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35B95"/>
            </a:solidFill>
          </a:ln>
        </p:spPr>
      </p:sp>
      <p:sp>
        <p:nvSpPr>
          <p:cNvPr id="6" name="mission-catalog-header">
            <a:extLst xmlns:a="http://schemas.openxmlformats.org/drawingml/2006/main">
              <a:ext uri="{FF2B5EF4-FFF2-40B4-BE49-F238E27FC236}">
                <a16:creationId xmlns:a16="http://schemas.microsoft.com/office/drawing/2014/main" id="{D02BE512-DE7E-4F9D-BCDE-A83000C8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819275"/>
            <a:ext cx="2647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2F8"/>
          </a:solidFill>
          <a:ln xmlns:a="http://schemas.openxmlformats.org/drawingml/2006/main" w="0">
            <a:noFill/>
          </a:ln>
        </p:spPr>
      </p:sp>
      <p:sp>
        <p:nvSpPr>
          <p:cNvPr id="7" name="mission-catalog-title">
            <a:extLst xmlns:a="http://schemas.openxmlformats.org/drawingml/2006/main">
              <a:ext uri="{FF2B5EF4-FFF2-40B4-BE49-F238E27FC236}">
                <a16:creationId xmlns:a16="http://schemas.microsoft.com/office/drawing/2014/main" id="{5281B8EB-86C9-47C8-AE99-249B4238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2324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35B9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35B9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35B95"/>
                </a:solidFill>
                <a:latin typeface="Malgun Gothic"/>
                <a:ea typeface="Malgun Gothic"/>
                <a:cs typeface="Malgun Gothic"/>
              </a:rPr>
              <a:t>미션 카탈로그</a:t>
            </a:r>
          </a:p>
        </p:txBody>
      </p:sp>
      <p:sp>
        <p:nvSpPr>
          <p:cNvPr id="8" name="mission-catalog-type">
            <a:extLst xmlns:a="http://schemas.openxmlformats.org/drawingml/2006/main">
              <a:ext uri="{FF2B5EF4-FFF2-40B4-BE49-F238E27FC236}">
                <a16:creationId xmlns:a16="http://schemas.microsoft.com/office/drawing/2014/main" id="{9C1DAFF1-C83C-43D8-8850-9681263D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rPr>
              <a:t>GateMissionCatalog</a:t>
            </a:r>
          </a:p>
        </p:txBody>
      </p:sp>
      <p:sp>
        <p:nvSpPr>
          <p:cNvPr id="9" name="mission-catalog-separator">
            <a:extLst xmlns:a="http://schemas.openxmlformats.org/drawingml/2006/main">
              <a:ext uri="{FF2B5EF4-FFF2-40B4-BE49-F238E27FC236}">
                <a16:creationId xmlns:a16="http://schemas.microsoft.com/office/drawing/2014/main" id="{B1D25AC5-1156-4A02-889F-D60FC44E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4317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5B95"/>
            </a:solidFill>
          </a:ln>
        </p:spPr>
      </p:sp>
      <p:sp>
        <p:nvSpPr>
          <p:cNvPr id="10" name="mission-catalog-field-0">
            <a:extLst xmlns:a="http://schemas.openxmlformats.org/drawingml/2006/main">
              <a:ext uri="{FF2B5EF4-FFF2-40B4-BE49-F238E27FC236}">
                <a16:creationId xmlns:a16="http://schemas.microsoft.com/office/drawing/2014/main" id="{D54ED43E-91BE-4B4B-9EAE-22BD8922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7652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rPr>
              <a:t>missions[]</a:t>
            </a:r>
          </a:p>
        </p:txBody>
      </p:sp>
      <p:sp>
        <p:nvSpPr>
          <p:cNvPr id="11" name="mission-catalog-field-1">
            <a:extLst xmlns:a="http://schemas.openxmlformats.org/drawingml/2006/main">
              <a:ext uri="{FF2B5EF4-FFF2-40B4-BE49-F238E27FC236}">
                <a16:creationId xmlns:a16="http://schemas.microsoft.com/office/drawing/2014/main" id="{F0A0AB83-CBA5-49D9-BE77-BC01337D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6227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rPr>
              <a:t>  GateMissionDefinition</a:t>
            </a:r>
          </a:p>
        </p:txBody>
      </p:sp>
      <p:sp>
        <p:nvSpPr>
          <p:cNvPr id="12" name="catalog-load-path">
            <a:extLst xmlns:a="http://schemas.openxmlformats.org/drawingml/2006/main">
              <a:ext uri="{FF2B5EF4-FFF2-40B4-BE49-F238E27FC236}">
                <a16:creationId xmlns:a16="http://schemas.microsoft.com/office/drawing/2014/main" id="{2EFE24B2-2BD8-43B1-9BD8-08E5BDFE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rPr>
              <a:t>Resources/GateMissions</a:t>
            </a:r>
          </a:p>
        </p:txBody>
      </p:sp>
      <p:sp>
        <p:nvSpPr>
          <p:cNvPr id="13" name="mission-definition">
            <a:extLst xmlns:a="http://schemas.openxmlformats.org/drawingml/2006/main">
              <a:ext uri="{FF2B5EF4-FFF2-40B4-BE49-F238E27FC236}">
                <a16:creationId xmlns:a16="http://schemas.microsoft.com/office/drawing/2014/main" id="{FF696A7B-27E9-4C61-99DE-FDF1E32D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09750"/>
            <a:ext cx="33147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35B95"/>
            </a:solidFill>
          </a:ln>
        </p:spPr>
      </p:sp>
      <p:sp>
        <p:nvSpPr>
          <p:cNvPr id="14" name="mission-definition-header">
            <a:extLst xmlns:a="http://schemas.openxmlformats.org/drawingml/2006/main">
              <a:ext uri="{FF2B5EF4-FFF2-40B4-BE49-F238E27FC236}">
                <a16:creationId xmlns:a16="http://schemas.microsoft.com/office/drawing/2014/main" id="{E5808182-B5B5-4F6E-BEE9-A9835723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819275"/>
            <a:ext cx="32956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2F8"/>
          </a:solidFill>
          <a:ln xmlns:a="http://schemas.openxmlformats.org/drawingml/2006/main" w="0">
            <a:noFill/>
          </a:ln>
        </p:spPr>
      </p:sp>
      <p:sp>
        <p:nvSpPr>
          <p:cNvPr id="15" name="mission-definition-title">
            <a:extLst xmlns:a="http://schemas.openxmlformats.org/drawingml/2006/main">
              <a:ext uri="{FF2B5EF4-FFF2-40B4-BE49-F238E27FC236}">
                <a16:creationId xmlns:a16="http://schemas.microsoft.com/office/drawing/2014/main" id="{B77B436B-2C48-4C51-8743-FC60CA70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905000"/>
            <a:ext cx="2971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35B9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35B9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35B95"/>
                </a:solidFill>
                <a:latin typeface="Malgun Gothic"/>
                <a:ea typeface="Malgun Gothic"/>
                <a:cs typeface="Malgun Gothic"/>
              </a:rPr>
              <a:t>미션 정의</a:t>
            </a:r>
          </a:p>
        </p:txBody>
      </p:sp>
      <p:sp>
        <p:nvSpPr>
          <p:cNvPr id="16" name="mission-definition-type">
            <a:extLst xmlns:a="http://schemas.openxmlformats.org/drawingml/2006/main">
              <a:ext uri="{FF2B5EF4-FFF2-40B4-BE49-F238E27FC236}">
                <a16:creationId xmlns:a16="http://schemas.microsoft.com/office/drawing/2014/main" id="{82CCBF0C-2D36-4F9D-B550-CD783F1B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228850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rPr>
              <a:t>GateMissionDefinition</a:t>
            </a:r>
          </a:p>
        </p:txBody>
      </p:sp>
      <p:sp>
        <p:nvSpPr>
          <p:cNvPr id="17" name="mission-definition-separator">
            <a:extLst xmlns:a="http://schemas.openxmlformats.org/drawingml/2006/main">
              <a:ext uri="{FF2B5EF4-FFF2-40B4-BE49-F238E27FC236}">
                <a16:creationId xmlns:a16="http://schemas.microsoft.com/office/drawing/2014/main" id="{762FA14A-D777-4ED8-924A-02D38996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43175"/>
            <a:ext cx="331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5B95"/>
            </a:solidFill>
          </a:ln>
        </p:spPr>
      </p:sp>
      <p:sp>
        <p:nvSpPr>
          <p:cNvPr id="18" name="mission-definition-field-0">
            <a:extLst xmlns:a="http://schemas.openxmlformats.org/drawingml/2006/main">
              <a:ext uri="{FF2B5EF4-FFF2-40B4-BE49-F238E27FC236}">
                <a16:creationId xmlns:a16="http://schemas.microsoft.com/office/drawing/2014/main" id="{34915CC3-8821-40CD-9ABE-3982D4AE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76525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rPr>
              <a:t>id, destinationId : string</a:t>
            </a:r>
          </a:p>
        </p:txBody>
      </p:sp>
      <p:sp>
        <p:nvSpPr>
          <p:cNvPr id="19" name="mission-definition-field-1">
            <a:extLst xmlns:a="http://schemas.openxmlformats.org/drawingml/2006/main">
              <a:ext uri="{FF2B5EF4-FFF2-40B4-BE49-F238E27FC236}">
                <a16:creationId xmlns:a16="http://schemas.microsoft.com/office/drawing/2014/main" id="{F1B65343-4F23-4D99-BE9C-FAD63EF0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962275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rPr>
              <a:t>difficulty : int (1~3)</a:t>
            </a:r>
          </a:p>
        </p:txBody>
      </p:sp>
      <p:sp>
        <p:nvSpPr>
          <p:cNvPr id="20" name="mission-definition-field-2">
            <a:extLst xmlns:a="http://schemas.openxmlformats.org/drawingml/2006/main">
              <a:ext uri="{FF2B5EF4-FFF2-40B4-BE49-F238E27FC236}">
                <a16:creationId xmlns:a16="http://schemas.microsoft.com/office/drawing/2014/main" id="{CA668CCD-6E46-428E-AEEB-8C046A9E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48025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rPr>
              <a:t>healthMultiplier : float</a:t>
            </a:r>
          </a:p>
        </p:txBody>
      </p:sp>
      <p:sp>
        <p:nvSpPr>
          <p:cNvPr id="21" name="mission-definition-field-3">
            <a:extLst xmlns:a="http://schemas.openxmlformats.org/drawingml/2006/main">
              <a:ext uri="{FF2B5EF4-FFF2-40B4-BE49-F238E27FC236}">
                <a16:creationId xmlns:a16="http://schemas.microsoft.com/office/drawing/2014/main" id="{06F916DF-DC4A-4B28-8FAF-2E9F99FA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533775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rPr>
              <a:t>enemyGimmicks : Flags</a:t>
            </a:r>
          </a:p>
        </p:txBody>
      </p:sp>
      <p:sp>
        <p:nvSpPr>
          <p:cNvPr id="22" name="mission-definition-field-4">
            <a:extLst xmlns:a="http://schemas.openxmlformats.org/drawingml/2006/main">
              <a:ext uri="{FF2B5EF4-FFF2-40B4-BE49-F238E27FC236}">
                <a16:creationId xmlns:a16="http://schemas.microsoft.com/office/drawing/2014/main" id="{8E376BAC-0C6C-4865-8FCB-C9550D5B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819525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rPr>
              <a:t>stages[] : StageDefinition</a:t>
            </a:r>
          </a:p>
        </p:txBody>
      </p:sp>
      <p:sp>
        <p:nvSpPr>
          <p:cNvPr id="23" name="stage-definition">
            <a:extLst xmlns:a="http://schemas.openxmlformats.org/drawingml/2006/main">
              <a:ext uri="{FF2B5EF4-FFF2-40B4-BE49-F238E27FC236}">
                <a16:creationId xmlns:a16="http://schemas.microsoft.com/office/drawing/2014/main" id="{BB192C84-4DBE-4516-A655-80E37321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09750"/>
            <a:ext cx="33337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35B95"/>
            </a:solidFill>
          </a:ln>
        </p:spPr>
      </p:sp>
      <p:sp>
        <p:nvSpPr>
          <p:cNvPr id="24" name="stage-definition-header">
            <a:extLst xmlns:a="http://schemas.openxmlformats.org/drawingml/2006/main">
              <a:ext uri="{FF2B5EF4-FFF2-40B4-BE49-F238E27FC236}">
                <a16:creationId xmlns:a16="http://schemas.microsoft.com/office/drawing/2014/main" id="{D0EA2D8F-C939-47DB-897E-E7176FD4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819275"/>
            <a:ext cx="3314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2F8"/>
          </a:solidFill>
          <a:ln xmlns:a="http://schemas.openxmlformats.org/drawingml/2006/main" w="0">
            <a:noFill/>
          </a:ln>
        </p:spPr>
      </p:sp>
      <p:sp>
        <p:nvSpPr>
          <p:cNvPr id="25" name="stage-definition-title">
            <a:extLst xmlns:a="http://schemas.openxmlformats.org/drawingml/2006/main">
              <a:ext uri="{FF2B5EF4-FFF2-40B4-BE49-F238E27FC236}">
                <a16:creationId xmlns:a16="http://schemas.microsoft.com/office/drawing/2014/main" id="{7EE9C522-8EBC-4366-B32B-6D4C8078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05000"/>
            <a:ext cx="2990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35B9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35B9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35B95"/>
                </a:solidFill>
                <a:latin typeface="Malgun Gothic"/>
                <a:ea typeface="Malgun Gothic"/>
                <a:cs typeface="Malgun Gothic"/>
              </a:rPr>
              <a:t>스테이지 정의</a:t>
            </a:r>
          </a:p>
        </p:txBody>
      </p:sp>
      <p:sp>
        <p:nvSpPr>
          <p:cNvPr id="26" name="stage-definition-type">
            <a:extLst xmlns:a="http://schemas.openxmlformats.org/drawingml/2006/main">
              <a:ext uri="{FF2B5EF4-FFF2-40B4-BE49-F238E27FC236}">
                <a16:creationId xmlns:a16="http://schemas.microsoft.com/office/drawing/2014/main" id="{C170BBF0-E818-4B3B-8766-D6E8CDE2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28850"/>
            <a:ext cx="2990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rPr>
              <a:t>LiminalStageDefinition</a:t>
            </a:r>
          </a:p>
        </p:txBody>
      </p:sp>
      <p:sp>
        <p:nvSpPr>
          <p:cNvPr id="27" name="stage-definition-separator">
            <a:extLst xmlns:a="http://schemas.openxmlformats.org/drawingml/2006/main">
              <a:ext uri="{FF2B5EF4-FFF2-40B4-BE49-F238E27FC236}">
                <a16:creationId xmlns:a16="http://schemas.microsoft.com/office/drawing/2014/main" id="{0FD71ABD-47ED-48ED-B7B7-ACECC6C3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43175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5B95"/>
            </a:solidFill>
          </a:ln>
        </p:spPr>
      </p:sp>
      <p:sp>
        <p:nvSpPr>
          <p:cNvPr id="28" name="stage-definition-field-0">
            <a:extLst xmlns:a="http://schemas.openxmlformats.org/drawingml/2006/main">
              <a:ext uri="{FF2B5EF4-FFF2-40B4-BE49-F238E27FC236}">
                <a16:creationId xmlns:a16="http://schemas.microsoft.com/office/drawing/2014/main" id="{04B741BC-629F-4564-BB79-7878529E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76525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rPr>
              <a:t>stageId : string</a:t>
            </a:r>
          </a:p>
        </p:txBody>
      </p:sp>
      <p:sp>
        <p:nvSpPr>
          <p:cNvPr id="29" name="stage-definition-field-1">
            <a:extLst xmlns:a="http://schemas.openxmlformats.org/drawingml/2006/main">
              <a:ext uri="{FF2B5EF4-FFF2-40B4-BE49-F238E27FC236}">
                <a16:creationId xmlns:a16="http://schemas.microsoft.com/office/drawing/2014/main" id="{A433336A-4850-424F-917D-59CD0EB3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62275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rPr>
              <a:t>roomPool[] : LiminalRoom</a:t>
            </a:r>
          </a:p>
        </p:txBody>
      </p:sp>
      <p:sp>
        <p:nvSpPr>
          <p:cNvPr id="30" name="stage-definition-field-2">
            <a:extLst xmlns:a="http://schemas.openxmlformats.org/drawingml/2006/main">
              <a:ext uri="{FF2B5EF4-FFF2-40B4-BE49-F238E27FC236}">
                <a16:creationId xmlns:a16="http://schemas.microsoft.com/office/drawing/2014/main" id="{7C71FB3E-453A-4690-B3C0-84A85E6F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48025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rPr>
              <a:t>startRoom, endRoom : Room</a:t>
            </a:r>
          </a:p>
        </p:txBody>
      </p:sp>
      <p:sp>
        <p:nvSpPr>
          <p:cNvPr id="31" name="stage-definition-field-3">
            <a:extLst xmlns:a="http://schemas.openxmlformats.org/drawingml/2006/main">
              <a:ext uri="{FF2B5EF4-FFF2-40B4-BE49-F238E27FC236}">
                <a16:creationId xmlns:a16="http://schemas.microsoft.com/office/drawing/2014/main" id="{B3EA4F51-7E6F-4C99-ACA0-02DE2E2A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33775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rPr>
              <a:t>middleRoomCount : int</a:t>
            </a:r>
          </a:p>
        </p:txBody>
      </p:sp>
      <p:sp>
        <p:nvSpPr>
          <p:cNvPr id="32" name="stage-definition-field-4">
            <a:extLst xmlns:a="http://schemas.openxmlformats.org/drawingml/2006/main">
              <a:ext uri="{FF2B5EF4-FFF2-40B4-BE49-F238E27FC236}">
                <a16:creationId xmlns:a16="http://schemas.microsoft.com/office/drawing/2014/main" id="{4B4FB8E8-C7B6-4EE4-9242-416763C7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19525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rPr>
              <a:t>isBossStage : bool</a:t>
            </a:r>
          </a:p>
        </p:txBody>
      </p:sp>
      <p:sp>
        <p:nvSpPr>
          <p:cNvPr id="33" name="room-prefab">
            <a:extLst xmlns:a="http://schemas.openxmlformats.org/drawingml/2006/main">
              <a:ext uri="{FF2B5EF4-FFF2-40B4-BE49-F238E27FC236}">
                <a16:creationId xmlns:a16="http://schemas.microsoft.com/office/drawing/2014/main" id="{1E1C8C31-796F-4A33-8FCD-02A514CD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1809750"/>
            <a:ext cx="3124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35B95"/>
            </a:solidFill>
          </a:ln>
        </p:spPr>
      </p:sp>
      <p:sp>
        <p:nvSpPr>
          <p:cNvPr id="34" name="room-prefab-header">
            <a:extLst xmlns:a="http://schemas.openxmlformats.org/drawingml/2006/main">
              <a:ext uri="{FF2B5EF4-FFF2-40B4-BE49-F238E27FC236}">
                <a16:creationId xmlns:a16="http://schemas.microsoft.com/office/drawing/2014/main" id="{F87EDC5E-4A90-4AF1-8A1B-4D0E3417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1819275"/>
            <a:ext cx="3105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2F8"/>
          </a:solidFill>
          <a:ln xmlns:a="http://schemas.openxmlformats.org/drawingml/2006/main" w="0">
            <a:noFill/>
          </a:ln>
        </p:spPr>
      </p:sp>
      <p:sp>
        <p:nvSpPr>
          <p:cNvPr id="35" name="room-prefab-title">
            <a:extLst xmlns:a="http://schemas.openxmlformats.org/drawingml/2006/main">
              <a:ext uri="{FF2B5EF4-FFF2-40B4-BE49-F238E27FC236}">
                <a16:creationId xmlns:a16="http://schemas.microsoft.com/office/drawing/2014/main" id="{CC386652-0511-4D35-B32D-A91F20C0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1905000"/>
            <a:ext cx="278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35B9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35B9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35B95"/>
                </a:solidFill>
                <a:latin typeface="Malgun Gothic"/>
                <a:ea typeface="Malgun Gothic"/>
                <a:cs typeface="Malgun Gothic"/>
              </a:rPr>
              <a:t>방 프리팹</a:t>
            </a:r>
          </a:p>
        </p:txBody>
      </p:sp>
      <p:sp>
        <p:nvSpPr>
          <p:cNvPr id="36" name="room-prefab-type">
            <a:extLst xmlns:a="http://schemas.openxmlformats.org/drawingml/2006/main">
              <a:ext uri="{FF2B5EF4-FFF2-40B4-BE49-F238E27FC236}">
                <a16:creationId xmlns:a16="http://schemas.microsoft.com/office/drawing/2014/main" id="{F1A94DAC-082B-4547-8F73-53851344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2228850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rPr>
              <a:t>LiminalRoom</a:t>
            </a:r>
          </a:p>
        </p:txBody>
      </p:sp>
      <p:sp>
        <p:nvSpPr>
          <p:cNvPr id="37" name="room-prefab-separator">
            <a:extLst xmlns:a="http://schemas.openxmlformats.org/drawingml/2006/main">
              <a:ext uri="{FF2B5EF4-FFF2-40B4-BE49-F238E27FC236}">
                <a16:creationId xmlns:a16="http://schemas.microsoft.com/office/drawing/2014/main" id="{88E2E257-40F0-4319-A60A-E8AEA6B6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543175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5B95"/>
            </a:solidFill>
          </a:ln>
        </p:spPr>
      </p:sp>
      <p:sp>
        <p:nvSpPr>
          <p:cNvPr id="38" name="room-prefab-field-0">
            <a:extLst xmlns:a="http://schemas.openxmlformats.org/drawingml/2006/main">
              <a:ext uri="{FF2B5EF4-FFF2-40B4-BE49-F238E27FC236}">
                <a16:creationId xmlns:a16="http://schemas.microsoft.com/office/drawing/2014/main" id="{103AF063-8951-40FB-BC8F-D693A53B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2676525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rPr>
              <a:t>roomId : string</a:t>
            </a:r>
          </a:p>
        </p:txBody>
      </p:sp>
      <p:sp>
        <p:nvSpPr>
          <p:cNvPr id="39" name="room-prefab-field-1">
            <a:extLst xmlns:a="http://schemas.openxmlformats.org/drawingml/2006/main">
              <a:ext uri="{FF2B5EF4-FFF2-40B4-BE49-F238E27FC236}">
                <a16:creationId xmlns:a16="http://schemas.microsoft.com/office/drawing/2014/main" id="{33BCE9B3-4D7A-4440-94A6-4657F87B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2962275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rPr>
              <a:t>kind : LiminalRoomKind</a:t>
            </a:r>
          </a:p>
        </p:txBody>
      </p:sp>
      <p:sp>
        <p:nvSpPr>
          <p:cNvPr id="40" name="room-prefab-field-2">
            <a:extLst xmlns:a="http://schemas.openxmlformats.org/drawingml/2006/main">
              <a:ext uri="{FF2B5EF4-FFF2-40B4-BE49-F238E27FC236}">
                <a16:creationId xmlns:a16="http://schemas.microsoft.com/office/drawing/2014/main" id="{6E257CF8-FFB7-434E-A515-95A6E5D7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3248025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rPr>
              <a:t>entry, exit : Transform</a:t>
            </a:r>
          </a:p>
        </p:txBody>
      </p:sp>
      <p:sp>
        <p:nvSpPr>
          <p:cNvPr id="41" name="room-prefab-field-3">
            <a:extLst xmlns:a="http://schemas.openxmlformats.org/drawingml/2006/main">
              <a:ext uri="{FF2B5EF4-FFF2-40B4-BE49-F238E27FC236}">
                <a16:creationId xmlns:a16="http://schemas.microsoft.com/office/drawing/2014/main" id="{28BB86BE-52A4-4094-9B98-B5E38C8F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3533775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rPr>
              <a:t>playerSpawn, enemySpawns[]</a:t>
            </a:r>
          </a:p>
        </p:txBody>
      </p:sp>
      <p:sp>
        <p:nvSpPr>
          <p:cNvPr id="42" name="room-prefab-field-4">
            <a:extLst xmlns:a="http://schemas.openxmlformats.org/drawingml/2006/main">
              <a:ext uri="{FF2B5EF4-FFF2-40B4-BE49-F238E27FC236}">
                <a16:creationId xmlns:a16="http://schemas.microsoft.com/office/drawing/2014/main" id="{861E9441-2D5A-4E53-AC7E-D0DA4F86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3819525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rPr>
              <a:t>localBounds, 문 오브젝트</a:t>
            </a:r>
          </a:p>
        </p:txBody>
      </p:sp>
      <p:sp>
        <p:nvSpPr>
          <p:cNvPr id="46" name="catalog-cardinality">
            <a:extLst xmlns:a="http://schemas.openxmlformats.org/drawingml/2006/main">
              <a:ext uri="{FF2B5EF4-FFF2-40B4-BE49-F238E27FC236}">
                <a16:creationId xmlns:a16="http://schemas.microsoft.com/office/drawing/2014/main" id="{821C14B0-F773-461A-BBD5-55294768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7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rPr>
              <a:t>1:N</a:t>
            </a:r>
          </a:p>
        </p:txBody>
      </p:sp>
      <p:sp>
        <p:nvSpPr>
          <p:cNvPr id="47" name="catalog-relation">
            <a:extLst xmlns:a="http://schemas.openxmlformats.org/drawingml/2006/main">
              <a:ext uri="{FF2B5EF4-FFF2-40B4-BE49-F238E27FC236}">
                <a16:creationId xmlns:a16="http://schemas.microsoft.com/office/drawing/2014/main" id="{F3709D47-7553-4D70-8F15-57726295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337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rPr>
              <a:t>소유</a:t>
            </a:r>
          </a:p>
        </p:txBody>
      </p:sp>
      <p:sp>
        <p:nvSpPr>
          <p:cNvPr id="48" name="mission-cardinality">
            <a:extLst xmlns:a="http://schemas.openxmlformats.org/drawingml/2006/main">
              <a:ext uri="{FF2B5EF4-FFF2-40B4-BE49-F238E27FC236}">
                <a16:creationId xmlns:a16="http://schemas.microsoft.com/office/drawing/2014/main" id="{84450B48-EDE5-4A49-80CA-6C40A9A4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7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rPr>
              <a:t>1:N</a:t>
            </a:r>
          </a:p>
        </p:txBody>
      </p:sp>
      <p:sp>
        <p:nvSpPr>
          <p:cNvPr id="49" name="mission-relation">
            <a:extLst xmlns:a="http://schemas.openxmlformats.org/drawingml/2006/main">
              <a:ext uri="{FF2B5EF4-FFF2-40B4-BE49-F238E27FC236}">
                <a16:creationId xmlns:a16="http://schemas.microsoft.com/office/drawing/2014/main" id="{26C47B4C-F4EB-40C9-91CD-210829BE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337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rPr>
              <a:t>참조</a:t>
            </a:r>
          </a:p>
        </p:txBody>
      </p:sp>
      <p:sp>
        <p:nvSpPr>
          <p:cNvPr id="50" name="stage-cardinality">
            <a:extLst xmlns:a="http://schemas.openxmlformats.org/drawingml/2006/main">
              <a:ext uri="{FF2B5EF4-FFF2-40B4-BE49-F238E27FC236}">
                <a16:creationId xmlns:a16="http://schemas.microsoft.com/office/drawing/2014/main" id="{FF3EAA17-3ECB-4BCE-80D9-9D5F7456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47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rPr>
              <a:t>1:N</a:t>
            </a:r>
          </a:p>
        </p:txBody>
      </p:sp>
      <p:sp>
        <p:nvSpPr>
          <p:cNvPr id="51" name="stage-relation">
            <a:extLst xmlns:a="http://schemas.openxmlformats.org/drawingml/2006/main">
              <a:ext uri="{FF2B5EF4-FFF2-40B4-BE49-F238E27FC236}">
                <a16:creationId xmlns:a16="http://schemas.microsoft.com/office/drawing/2014/main" id="{2F6B903A-AC66-4345-93FF-84299A42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1337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rPr>
              <a:t>참조</a:t>
            </a:r>
          </a:p>
        </p:txBody>
      </p:sp>
      <p:sp>
        <p:nvSpPr>
          <p:cNvPr id="52" name="persistent-progression">
            <a:extLst xmlns:a="http://schemas.openxmlformats.org/drawingml/2006/main">
              <a:ext uri="{FF2B5EF4-FFF2-40B4-BE49-F238E27FC236}">
                <a16:creationId xmlns:a16="http://schemas.microsoft.com/office/drawing/2014/main" id="{AAF23CB6-4ED9-4DD3-B70F-A76B73CF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33528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916A2D"/>
            </a:solidFill>
          </a:ln>
        </p:spPr>
      </p:sp>
      <p:sp>
        <p:nvSpPr>
          <p:cNvPr id="53" name="persistent-progression-header">
            <a:extLst xmlns:a="http://schemas.openxmlformats.org/drawingml/2006/main">
              <a:ext uri="{FF2B5EF4-FFF2-40B4-BE49-F238E27FC236}">
                <a16:creationId xmlns:a16="http://schemas.microsoft.com/office/drawing/2014/main" id="{F85446B0-53E8-48C1-95D3-9999D1C5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419725"/>
            <a:ext cx="333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3E5"/>
          </a:solidFill>
          <a:ln xmlns:a="http://schemas.openxmlformats.org/drawingml/2006/main" w="0">
            <a:noFill/>
          </a:ln>
        </p:spPr>
      </p:sp>
      <p:sp>
        <p:nvSpPr>
          <p:cNvPr id="54" name="persistent-progression-title">
            <a:extLst xmlns:a="http://schemas.openxmlformats.org/drawingml/2006/main">
              <a:ext uri="{FF2B5EF4-FFF2-40B4-BE49-F238E27FC236}">
                <a16:creationId xmlns:a16="http://schemas.microsoft.com/office/drawing/2014/main" id="{C9E0105F-0FE1-4233-8863-D4E9009F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05450"/>
            <a:ext cx="300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916A2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916A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916A2D"/>
                </a:solidFill>
                <a:latin typeface="Malgun Gothic"/>
                <a:ea typeface="Malgun Gothic"/>
                <a:cs typeface="Malgun Gothic"/>
              </a:rPr>
              <a:t>영구 진행 기록</a:t>
            </a:r>
          </a:p>
        </p:txBody>
      </p:sp>
      <p:sp>
        <p:nvSpPr>
          <p:cNvPr id="55" name="persistent-progression-type">
            <a:extLst xmlns:a="http://schemas.openxmlformats.org/drawingml/2006/main">
              <a:ext uri="{FF2B5EF4-FFF2-40B4-BE49-F238E27FC236}">
                <a16:creationId xmlns:a16="http://schemas.microsoft.com/office/drawing/2014/main" id="{BBC9AB22-C83A-41DD-826B-4688C49C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rPr>
              <a:t>HunterProgress / PlayerPrefs</a:t>
            </a:r>
          </a:p>
        </p:txBody>
      </p:sp>
      <p:sp>
        <p:nvSpPr>
          <p:cNvPr id="56" name="persistent-progression-separator">
            <a:extLst xmlns:a="http://schemas.openxmlformats.org/drawingml/2006/main">
              <a:ext uri="{FF2B5EF4-FFF2-40B4-BE49-F238E27FC236}">
                <a16:creationId xmlns:a16="http://schemas.microsoft.com/office/drawing/2014/main" id="{44018E71-4DDB-4C51-BCFF-EC0000CC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43625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16A2D"/>
            </a:solidFill>
          </a:ln>
        </p:spPr>
      </p:sp>
      <p:sp>
        <p:nvSpPr>
          <p:cNvPr id="57" name="persistent-progression-field-0">
            <a:extLst xmlns:a="http://schemas.openxmlformats.org/drawingml/2006/main">
              <a:ext uri="{FF2B5EF4-FFF2-40B4-BE49-F238E27FC236}">
                <a16:creationId xmlns:a16="http://schemas.microsoft.com/office/drawing/2014/main" id="{667CE043-5D7A-4FF2-9474-B86860E6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76975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rPr>
              <a:t>Hunter.MagicStones : int</a:t>
            </a:r>
          </a:p>
        </p:txBody>
      </p:sp>
      <p:sp>
        <p:nvSpPr>
          <p:cNvPr id="58" name="persistent-progression-field-1">
            <a:extLst xmlns:a="http://schemas.openxmlformats.org/drawingml/2006/main">
              <a:ext uri="{FF2B5EF4-FFF2-40B4-BE49-F238E27FC236}">
                <a16:creationId xmlns:a16="http://schemas.microsoft.com/office/drawing/2014/main" id="{EF08DE4E-E62C-41A4-AB0F-D578C2EB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9130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rPr>
              <a:t>Hunter.Upgrade.&lt;종류&gt; : int</a:t>
            </a:r>
          </a:p>
        </p:txBody>
      </p:sp>
      <p:sp>
        <p:nvSpPr>
          <p:cNvPr id="59" name="persistent-progression-field-2">
            <a:extLst xmlns:a="http://schemas.openxmlformats.org/drawingml/2006/main">
              <a:ext uri="{FF2B5EF4-FFF2-40B4-BE49-F238E27FC236}">
                <a16:creationId xmlns:a16="http://schemas.microsoft.com/office/drawing/2014/main" id="{342C44E4-E3D3-4C9D-B739-4EB7D037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905625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rPr>
              <a:t>Hunter.Destination.&lt;id&gt; : 0/1</a:t>
            </a:r>
          </a:p>
        </p:txBody>
      </p:sp>
      <p:sp>
        <p:nvSpPr>
          <p:cNvPr id="60" name="persistent-progression-field-3">
            <a:extLst xmlns:a="http://schemas.openxmlformats.org/drawingml/2006/main">
              <a:ext uri="{FF2B5EF4-FFF2-40B4-BE49-F238E27FC236}">
                <a16:creationId xmlns:a16="http://schemas.microsoft.com/office/drawing/2014/main" id="{82B96D0F-D5D7-4B53-B2C3-4253C8EA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1995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rPr>
              <a:t>Hunter.VisitedStage.&lt;id&gt; : 0/1</a:t>
            </a:r>
          </a:p>
        </p:txBody>
      </p:sp>
      <p:sp>
        <p:nvSpPr>
          <p:cNvPr id="61" name="run-director">
            <a:extLst xmlns:a="http://schemas.openxmlformats.org/drawingml/2006/main">
              <a:ext uri="{FF2B5EF4-FFF2-40B4-BE49-F238E27FC236}">
                <a16:creationId xmlns:a16="http://schemas.microsoft.com/office/drawing/2014/main" id="{2AA23D81-2720-4D64-B341-58C3825E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410200"/>
            <a:ext cx="5905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7283E"/>
            </a:solidFill>
          </a:ln>
        </p:spPr>
      </p:sp>
      <p:sp>
        <p:nvSpPr>
          <p:cNvPr id="62" name="run-director-header">
            <a:extLst xmlns:a="http://schemas.openxmlformats.org/drawingml/2006/main">
              <a:ext uri="{FF2B5EF4-FFF2-40B4-BE49-F238E27FC236}">
                <a16:creationId xmlns:a16="http://schemas.microsoft.com/office/drawing/2014/main" id="{D2CC6A25-0CC8-41B2-B7D3-B07B44F0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419725"/>
            <a:ext cx="5886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0">
            <a:noFill/>
          </a:ln>
        </p:spPr>
      </p:sp>
      <p:sp>
        <p:nvSpPr>
          <p:cNvPr id="63" name="run-director-title">
            <a:extLst xmlns:a="http://schemas.openxmlformats.org/drawingml/2006/main">
              <a:ext uri="{FF2B5EF4-FFF2-40B4-BE49-F238E27FC236}">
                <a16:creationId xmlns:a16="http://schemas.microsoft.com/office/drawing/2014/main" id="{7382C82B-6993-4E96-992A-4424CD2F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505450"/>
            <a:ext cx="5562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83E"/>
                </a:solidFill>
                <a:latin typeface="Malgun Gothic"/>
                <a:ea typeface="Malgun Gothic"/>
                <a:cs typeface="Malgun Gothic"/>
              </a:rPr>
              <a:t>런 진행 상태</a:t>
            </a:r>
          </a:p>
        </p:txBody>
      </p:sp>
      <p:sp>
        <p:nvSpPr>
          <p:cNvPr id="64" name="run-director-type">
            <a:extLst xmlns:a="http://schemas.openxmlformats.org/drawingml/2006/main">
              <a:ext uri="{FF2B5EF4-FFF2-40B4-BE49-F238E27FC236}">
                <a16:creationId xmlns:a16="http://schemas.microsoft.com/office/drawing/2014/main" id="{CEC01DC9-6AD7-4D3A-B0CE-191B5C01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829300"/>
            <a:ext cx="556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rPr>
              <a:t>LiminalRunDirector</a:t>
            </a:r>
          </a:p>
        </p:txBody>
      </p:sp>
      <p:sp>
        <p:nvSpPr>
          <p:cNvPr id="65" name="run-director-separator">
            <a:extLst xmlns:a="http://schemas.openxmlformats.org/drawingml/2006/main">
              <a:ext uri="{FF2B5EF4-FFF2-40B4-BE49-F238E27FC236}">
                <a16:creationId xmlns:a16="http://schemas.microsoft.com/office/drawing/2014/main" id="{87144099-7D4B-4206-BDE0-C0F435DC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143625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283E"/>
            </a:solidFill>
          </a:ln>
        </p:spPr>
      </p:sp>
      <p:sp>
        <p:nvSpPr>
          <p:cNvPr id="66" name="run-director-field-0">
            <a:extLst xmlns:a="http://schemas.openxmlformats.org/drawingml/2006/main">
              <a:ext uri="{FF2B5EF4-FFF2-40B4-BE49-F238E27FC236}">
                <a16:creationId xmlns:a16="http://schemas.microsoft.com/office/drawing/2014/main" id="{E6C953A1-4A90-45CA-9912-8A7AFB00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76975"/>
            <a:ext cx="556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rPr>
              <a:t>ActiveMission, stages[], rooms[], living</a:t>
            </a:r>
          </a:p>
        </p:txBody>
      </p:sp>
      <p:sp>
        <p:nvSpPr>
          <p:cNvPr id="67" name="run-director-field-1">
            <a:extLst xmlns:a="http://schemas.openxmlformats.org/drawingml/2006/main">
              <a:ext uri="{FF2B5EF4-FFF2-40B4-BE49-F238E27FC236}">
                <a16:creationId xmlns:a16="http://schemas.microsoft.com/office/drawing/2014/main" id="{3ECD5D91-A116-4D11-9BD3-4A7EB395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600825"/>
            <a:ext cx="556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rPr>
              <a:t>seed, StageIndex, ActiveRoomIndex, Phase</a:t>
            </a:r>
          </a:p>
        </p:txBody>
      </p:sp>
      <p:sp>
        <p:nvSpPr>
          <p:cNvPr id="68" name="run-director-field-2">
            <a:extLst xmlns:a="http://schemas.openxmlformats.org/drawingml/2006/main">
              <a:ext uri="{FF2B5EF4-FFF2-40B4-BE49-F238E27FC236}">
                <a16:creationId xmlns:a16="http://schemas.microsoft.com/office/drawing/2014/main" id="{B009D485-DDA9-4CA2-9609-AC71D85B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924675"/>
            <a:ext cx="556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rPr>
              <a:t>visited[], cleared[], ClearedRoomCount</a:t>
            </a:r>
          </a:p>
        </p:txBody>
      </p:sp>
      <p:sp>
        <p:nvSpPr>
          <p:cNvPr id="69" name="run-director-field-3">
            <a:extLst xmlns:a="http://schemas.openxmlformats.org/drawingml/2006/main">
              <a:ext uri="{FF2B5EF4-FFF2-40B4-BE49-F238E27FC236}">
                <a16:creationId xmlns:a16="http://schemas.microsoft.com/office/drawing/2014/main" id="{CBF3875D-B076-4257-8A6D-0D9C1B6B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7248525"/>
            <a:ext cx="556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rPr>
              <a:t>PendingReward, AugmentHistory</a:t>
            </a:r>
          </a:p>
        </p:txBody>
      </p:sp>
      <p:sp>
        <p:nvSpPr>
          <p:cNvPr id="70" name="combat-components">
            <a:extLst xmlns:a="http://schemas.openxmlformats.org/drawingml/2006/main">
              <a:ext uri="{FF2B5EF4-FFF2-40B4-BE49-F238E27FC236}">
                <a16:creationId xmlns:a16="http://schemas.microsoft.com/office/drawing/2014/main" id="{30F1626B-0E35-4A21-B671-243D79C5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410200"/>
            <a:ext cx="33528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7283E"/>
            </a:solidFill>
          </a:ln>
        </p:spPr>
      </p:sp>
      <p:sp>
        <p:nvSpPr>
          <p:cNvPr id="71" name="combat-components-header">
            <a:extLst xmlns:a="http://schemas.openxmlformats.org/drawingml/2006/main">
              <a:ext uri="{FF2B5EF4-FFF2-40B4-BE49-F238E27FC236}">
                <a16:creationId xmlns:a16="http://schemas.microsoft.com/office/drawing/2014/main" id="{7210F04D-D432-4A21-B3D3-24B0F5BC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5419725"/>
            <a:ext cx="333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0">
            <a:noFill/>
          </a:ln>
        </p:spPr>
      </p:sp>
      <p:sp>
        <p:nvSpPr>
          <p:cNvPr id="72" name="combat-components-title">
            <a:extLst xmlns:a="http://schemas.openxmlformats.org/drawingml/2006/main">
              <a:ext uri="{FF2B5EF4-FFF2-40B4-BE49-F238E27FC236}">
                <a16:creationId xmlns:a16="http://schemas.microsoft.com/office/drawing/2014/main" id="{C6DE637B-6B0A-4331-9085-4DB070C4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505450"/>
            <a:ext cx="300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83E"/>
                </a:solidFill>
                <a:latin typeface="Malgun Gothic"/>
                <a:ea typeface="Malgun Gothic"/>
                <a:cs typeface="Malgun Gothic"/>
              </a:rPr>
              <a:t>전투 컴포넌트</a:t>
            </a:r>
          </a:p>
        </p:txBody>
      </p:sp>
      <p:sp>
        <p:nvSpPr>
          <p:cNvPr id="73" name="combat-components-type">
            <a:extLst xmlns:a="http://schemas.openxmlformats.org/drawingml/2006/main">
              <a:ext uri="{FF2B5EF4-FFF2-40B4-BE49-F238E27FC236}">
                <a16:creationId xmlns:a16="http://schemas.microsoft.com/office/drawing/2014/main" id="{2B8A5991-2EE9-4400-B811-D6366399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8293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rPr>
              <a:t>플레이어 / 몬스터 / 지원 스킬</a:t>
            </a:r>
          </a:p>
        </p:txBody>
      </p:sp>
      <p:sp>
        <p:nvSpPr>
          <p:cNvPr id="74" name="combat-components-separator">
            <a:extLst xmlns:a="http://schemas.openxmlformats.org/drawingml/2006/main">
              <a:ext uri="{FF2B5EF4-FFF2-40B4-BE49-F238E27FC236}">
                <a16:creationId xmlns:a16="http://schemas.microsoft.com/office/drawing/2014/main" id="{6BFB97A5-5FD2-4B26-B109-C33A4D6B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143625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283E"/>
            </a:solidFill>
          </a:ln>
        </p:spPr>
      </p:sp>
      <p:sp>
        <p:nvSpPr>
          <p:cNvPr id="75" name="combat-components-field-0">
            <a:extLst xmlns:a="http://schemas.openxmlformats.org/drawingml/2006/main">
              <a:ext uri="{FF2B5EF4-FFF2-40B4-BE49-F238E27FC236}">
                <a16:creationId xmlns:a16="http://schemas.microsoft.com/office/drawing/2014/main" id="{6E0F5F08-D903-4B4B-A62D-76DEE570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276975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rPr>
              <a:t>LiminalPlayerHealth : 체력</a:t>
            </a:r>
          </a:p>
        </p:txBody>
      </p:sp>
      <p:sp>
        <p:nvSpPr>
          <p:cNvPr id="76" name="combat-components-field-1">
            <a:extLst xmlns:a="http://schemas.openxmlformats.org/drawingml/2006/main">
              <a:ext uri="{FF2B5EF4-FFF2-40B4-BE49-F238E27FC236}">
                <a16:creationId xmlns:a16="http://schemas.microsoft.com/office/drawing/2014/main" id="{3816E1EB-CC1C-4992-8BCB-7A66BF5D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59130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rPr>
              <a:t>TrainingEnemy : 체력·처치</a:t>
            </a:r>
          </a:p>
        </p:txBody>
      </p:sp>
      <p:sp>
        <p:nvSpPr>
          <p:cNvPr id="77" name="combat-components-field-2">
            <a:extLst xmlns:a="http://schemas.openxmlformats.org/drawingml/2006/main">
              <a:ext uri="{FF2B5EF4-FFF2-40B4-BE49-F238E27FC236}">
                <a16:creationId xmlns:a16="http://schemas.microsoft.com/office/drawing/2014/main" id="{5D9D7290-D27F-4BC1-811E-0935E2F3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905625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rPr>
              <a:t>GateMissionEnemyModifier</a:t>
            </a:r>
          </a:p>
        </p:txBody>
      </p:sp>
      <p:sp>
        <p:nvSpPr>
          <p:cNvPr id="78" name="combat-components-field-3">
            <a:extLst xmlns:a="http://schemas.openxmlformats.org/drawingml/2006/main">
              <a:ext uri="{FF2B5EF4-FFF2-40B4-BE49-F238E27FC236}">
                <a16:creationId xmlns:a16="http://schemas.microsoft.com/office/drawing/2014/main" id="{A07E2390-831C-439B-9D53-BDAB928F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721995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7283E"/>
                </a:solidFill>
                <a:latin typeface="Malgun Gothic"/>
                <a:ea typeface="Malgun Gothic"/>
                <a:cs typeface="Malgun Gothic"/>
              </a:rPr>
              <a:t>SupportCharacterSkill</a:t>
            </a:r>
          </a:p>
        </p:txBody>
      </p:sp>
      <p:sp>
        <p:nvSpPr>
          <p:cNvPr id="80" name="route-generation-label">
            <a:extLst xmlns:a="http://schemas.openxmlformats.org/drawingml/2006/main">
              <a:ext uri="{FF2B5EF4-FFF2-40B4-BE49-F238E27FC236}">
                <a16:creationId xmlns:a16="http://schemas.microsoft.com/office/drawing/2014/main" id="{7C719257-4994-4AA4-B044-23411B61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00550"/>
            <a:ext cx="342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35B9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35B9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35B95"/>
                </a:solidFill>
                <a:latin typeface="Malgun Gothic"/>
                <a:ea typeface="Malgun Gothic"/>
                <a:cs typeface="Malgun Gothic"/>
              </a:rPr>
              <a:t>ChooseRoute(seed, stageIndex)</a:t>
            </a:r>
          </a:p>
        </p:txBody>
      </p:sp>
      <p:sp>
        <p:nvSpPr>
          <p:cNvPr id="81" name="route-configuration-note">
            <a:extLst xmlns:a="http://schemas.openxmlformats.org/drawingml/2006/main">
              <a:ext uri="{FF2B5EF4-FFF2-40B4-BE49-F238E27FC236}">
                <a16:creationId xmlns:a16="http://schemas.microsoft.com/office/drawing/2014/main" id="{8BFBB810-71BE-420B-958E-47031D88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72025"/>
            <a:ext cx="671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rPr>
              <a:t>startRoom은 제작용, 플레이 경로에서 제외</a:t>
            </a:r>
          </a:p>
        </p:txBody>
      </p:sp>
      <p:sp>
        <p:nvSpPr>
          <p:cNvPr id="83" name="room-spawn-label">
            <a:extLst xmlns:a="http://schemas.openxmlformats.org/drawingml/2006/main">
              <a:ext uri="{FF2B5EF4-FFF2-40B4-BE49-F238E27FC236}">
                <a16:creationId xmlns:a16="http://schemas.microsoft.com/office/drawing/2014/main" id="{1CB4E6AF-39C8-4636-A115-765006F9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4610100"/>
            <a:ext cx="1628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rPr>
              <a:t>방별 적 배치</a:t>
            </a:r>
          </a:p>
        </p:txBody>
      </p:sp>
      <p:sp>
        <p:nvSpPr>
          <p:cNvPr id="85" name="save-write-label">
            <a:extLst xmlns:a="http://schemas.openxmlformats.org/drawingml/2006/main">
              <a:ext uri="{FF2B5EF4-FFF2-40B4-BE49-F238E27FC236}">
                <a16:creationId xmlns:a16="http://schemas.microsoft.com/office/drawing/2014/main" id="{A6989647-7AAC-4E15-9AA7-26377F9C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98170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916A2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916A2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916A2D"/>
                </a:solidFill>
                <a:latin typeface="Malgun Gothic"/>
                <a:ea typeface="Malgun Gothic"/>
                <a:cs typeface="Malgun Gothic"/>
              </a:rPr>
              <a:t>보상 저장</a:t>
            </a:r>
          </a:p>
        </p:txBody>
      </p:sp>
      <p:sp>
        <p:nvSpPr>
          <p:cNvPr id="86" name="save-read-label">
            <a:extLst xmlns:a="http://schemas.openxmlformats.org/drawingml/2006/main">
              <a:ext uri="{FF2B5EF4-FFF2-40B4-BE49-F238E27FC236}">
                <a16:creationId xmlns:a16="http://schemas.microsoft.com/office/drawing/2014/main" id="{230A7320-6145-4A10-AE99-75DE9626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683895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916A2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916A2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916A2D"/>
                </a:solidFill>
                <a:latin typeface="Malgun Gothic"/>
                <a:ea typeface="Malgun Gothic"/>
                <a:cs typeface="Malgun Gothic"/>
              </a:rPr>
              <a:t>강화 로드</a:t>
            </a:r>
          </a:p>
        </p:txBody>
      </p:sp>
      <p:sp>
        <p:nvSpPr>
          <p:cNvPr id="88" name="combat-control-label">
            <a:extLst xmlns:a="http://schemas.openxmlformats.org/drawingml/2006/main">
              <a:ext uri="{FF2B5EF4-FFF2-40B4-BE49-F238E27FC236}">
                <a16:creationId xmlns:a16="http://schemas.microsoft.com/office/drawing/2014/main" id="{F3F2FC17-AF48-4CDC-B121-846B1E8E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98170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rPr>
              <a:t>생성·제어</a:t>
            </a:r>
          </a:p>
        </p:txBody>
      </p:sp>
      <p:sp>
        <p:nvSpPr>
          <p:cNvPr id="89" name="combat-event-label">
            <a:extLst xmlns:a="http://schemas.openxmlformats.org/drawingml/2006/main">
              <a:ext uri="{FF2B5EF4-FFF2-40B4-BE49-F238E27FC236}">
                <a16:creationId xmlns:a16="http://schemas.microsoft.com/office/drawing/2014/main" id="{A64A4772-EF8B-460B-8281-3A52A76B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83895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rPr>
              <a:t>처치 알림</a:t>
            </a:r>
          </a:p>
        </p:txBody>
      </p:sp>
      <p:sp>
        <p:nvSpPr>
          <p:cNvPr id="90" name="progress-upgrade-note">
            <a:extLst xmlns:a="http://schemas.openxmlformats.org/drawingml/2006/main">
              <a:ext uri="{FF2B5EF4-FFF2-40B4-BE49-F238E27FC236}">
                <a16:creationId xmlns:a16="http://schemas.microsoft.com/office/drawing/2014/main" id="{F6F5A1B3-708B-4E28-8A76-D4BE3F78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7905750"/>
            <a:ext cx="438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916A2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916A2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916A2D"/>
                </a:solidFill>
                <a:latin typeface="Malgun Gothic"/>
                <a:ea typeface="Malgun Gothic"/>
                <a:cs typeface="Malgun Gothic"/>
              </a:rPr>
              <a:t>강화: 체력 / 검술 / 회피 / 반격</a:t>
            </a:r>
          </a:p>
        </p:txBody>
      </p:sp>
      <p:sp>
        <p:nvSpPr>
          <p:cNvPr id="91" name="runtime-presentation-note">
            <a:extLst xmlns:a="http://schemas.openxmlformats.org/drawingml/2006/main">
              <a:ext uri="{FF2B5EF4-FFF2-40B4-BE49-F238E27FC236}">
                <a16:creationId xmlns:a16="http://schemas.microsoft.com/office/drawing/2014/main" id="{914C0FDA-3A5C-455E-B5AF-ACB1131A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7905750"/>
            <a:ext cx="895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rPr>
              <a:t>로비·게이트에서 미션 선택, HUD에서 진행 상태 표시</a:t>
            </a:r>
          </a:p>
        </p:txBody>
      </p:sp>
      <p:sp>
        <p:nvSpPr>
          <p:cNvPr id="9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607974B-B4FC-4E50-888E-08E769BC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77225"/>
            <a:ext cx="1432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6D5"/>
            </a:solidFill>
          </a:ln>
        </p:spPr>
      </p:sp>
      <p:sp>
        <p:nvSpPr>
          <p:cNvPr id="93" name="source-note">
            <a:extLst xmlns:a="http://schemas.openxmlformats.org/drawingml/2006/main">
              <a:ext uri="{FF2B5EF4-FFF2-40B4-BE49-F238E27FC236}">
                <a16:creationId xmlns:a16="http://schemas.microsoft.com/office/drawing/2014/main" id="{8958527C-DFD9-4A04-AA1D-FF2BC292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43900"/>
            <a:ext cx="1432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3647A"/>
                </a:solidFill>
                <a:latin typeface="Malgun Gothic"/>
                <a:ea typeface="Malgun Gothic"/>
                <a:cs typeface="Malgun Gothic"/>
              </a:rPr>
              <a:t>2026.10.07 현재 작업본 기준. 핵심 필드와 객체 관계를 표기하며 전체 필드·상세 출처는 발표자 노트에 포함.</a:t>
            </a:r>
          </a:p>
        </p:txBody>
      </p:sp>
    </p:spTree>
    <p:extLst>
      <p:ext uri="{BB962C8B-B14F-4D97-AF65-F5344CB8AC3E}">
        <p14:creationId xmlns:p14="http://schemas.microsoft.com/office/powerpoint/2010/main" val="11390641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2026-10-07T04:55:35.1730000Z</dcterms:created>
  <dcterms:modified xsi:type="dcterms:W3CDTF">2026-10-07T04:55:35.1730000Z</dcterms:modified>
</coreProperties>
</file>